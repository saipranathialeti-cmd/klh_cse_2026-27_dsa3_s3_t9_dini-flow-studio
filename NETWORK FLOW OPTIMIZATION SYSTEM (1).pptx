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2C6BB-CCFD-2E2C-2C16-A00FB9448C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1B1117E-2883-960D-EAA3-CDA53C3784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FF8909D-906D-1707-535A-A6981705BA36}"/>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5" name="Footer Placeholder 4">
            <a:extLst>
              <a:ext uri="{FF2B5EF4-FFF2-40B4-BE49-F238E27FC236}">
                <a16:creationId xmlns:a16="http://schemas.microsoft.com/office/drawing/2014/main" id="{639F4683-7701-0AA4-24B6-3C836EB47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E3AA2-3E89-2A1B-2BCD-E48136555B72}"/>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153376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7F76-0276-5AC8-9DDE-7BC66D7471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D044E6-A812-9B7C-0CF0-957C90DCBA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A93B55-634D-2B6D-E5DB-0A9298B655B8}"/>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5" name="Footer Placeholder 4">
            <a:extLst>
              <a:ext uri="{FF2B5EF4-FFF2-40B4-BE49-F238E27FC236}">
                <a16:creationId xmlns:a16="http://schemas.microsoft.com/office/drawing/2014/main" id="{7282D00E-476F-C109-A9F6-0C32BBDDFC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DECC77-D6AA-E945-26D9-1476E4131423}"/>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1746238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2B3C4-20D1-FC62-CE68-962873AAFC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054124-5E12-B8FA-540D-F81AA13C5E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B6C93F-ACDB-2C77-F90A-594DA819279B}"/>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5" name="Footer Placeholder 4">
            <a:extLst>
              <a:ext uri="{FF2B5EF4-FFF2-40B4-BE49-F238E27FC236}">
                <a16:creationId xmlns:a16="http://schemas.microsoft.com/office/drawing/2014/main" id="{9F94D4C7-5D2E-30C0-F97D-5A0DC0C692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1E9BF5-B52D-EBA3-C593-1AE6BFED11EC}"/>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1327155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F6FF7-D30A-DFB1-DF52-29D8442B06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CD74FF-3473-7542-FF49-E73FBE7A70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610AF9-9960-D391-442D-D3170EAC94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538189-5462-29CA-F9C0-FD9E1EEB2BD7}"/>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6" name="Footer Placeholder 5">
            <a:extLst>
              <a:ext uri="{FF2B5EF4-FFF2-40B4-BE49-F238E27FC236}">
                <a16:creationId xmlns:a16="http://schemas.microsoft.com/office/drawing/2014/main" id="{2F0D3CE8-4D80-1C42-649B-C3A8889AB6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BCE61D-5245-5872-5AAC-48CA5EC5AEC3}"/>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3863203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E805D-0D74-A783-9096-B9995B59A6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7F7254-E1CC-37CC-746C-97590D1860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65D974-8FD0-8F47-5A51-47542CEC95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E003B6A-406D-5177-90F4-F352640D4E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B089A5-E318-18AD-72F7-DEAABA232E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07128B-165B-48BE-7B82-FA7013A5EFAD}"/>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8" name="Footer Placeholder 7">
            <a:extLst>
              <a:ext uri="{FF2B5EF4-FFF2-40B4-BE49-F238E27FC236}">
                <a16:creationId xmlns:a16="http://schemas.microsoft.com/office/drawing/2014/main" id="{B3582E03-3E2F-C78E-E583-7BC6AF6A49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44A397-5808-FB27-02ED-B89A1596EAA7}"/>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1031948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23A60-042E-B85A-0DBD-97CE93D6A8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DD0C16-6032-5784-0BF4-1E008F496177}"/>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4" name="Footer Placeholder 3">
            <a:extLst>
              <a:ext uri="{FF2B5EF4-FFF2-40B4-BE49-F238E27FC236}">
                <a16:creationId xmlns:a16="http://schemas.microsoft.com/office/drawing/2014/main" id="{D97AC469-9427-4965-7FD0-C2E3E86471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C331A2-182E-60B3-202A-98BF4CE9B819}"/>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1409849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E071F4-6274-F324-3B84-CC9EAD16459A}"/>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3" name="Footer Placeholder 2">
            <a:extLst>
              <a:ext uri="{FF2B5EF4-FFF2-40B4-BE49-F238E27FC236}">
                <a16:creationId xmlns:a16="http://schemas.microsoft.com/office/drawing/2014/main" id="{46622522-D324-8CD6-C2E6-3F551E138E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7727E1-061C-DC70-30D5-7B6F9079F24C}"/>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2011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F660-6823-5E86-DCD9-8774A5B3B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30CA63-16BE-4489-7CDA-E9F8DAECE7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C010D2-F782-87E8-51C7-ED558A3AC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5175B-AC55-93FC-877B-678E360CF529}"/>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6" name="Footer Placeholder 5">
            <a:extLst>
              <a:ext uri="{FF2B5EF4-FFF2-40B4-BE49-F238E27FC236}">
                <a16:creationId xmlns:a16="http://schemas.microsoft.com/office/drawing/2014/main" id="{2F019CBD-67F2-A5C5-EF2B-232465EC39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49E107-3917-618B-FD80-849BCC40ACF4}"/>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131538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FCB54-ABD6-563A-B0AD-F9CB1964E2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AE28EE9-3CBE-38FD-7A52-7FC1712E68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2C39A34-B86C-BA1D-FBA7-103A7EF0C2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DBCD1-1D57-BD79-E5C5-4329957C05BF}"/>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6" name="Footer Placeholder 5">
            <a:extLst>
              <a:ext uri="{FF2B5EF4-FFF2-40B4-BE49-F238E27FC236}">
                <a16:creationId xmlns:a16="http://schemas.microsoft.com/office/drawing/2014/main" id="{734C0571-9483-DA07-0526-7303CC5825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A167CD-DB3D-E94E-E0F1-EF6D3F7E6597}"/>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1837198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58C8-7ED4-1E66-2735-1BD5E393D5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3D3882-06F4-73BC-75C1-99101FA38E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88D986-F773-D784-518D-5504E0E8B877}"/>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5" name="Footer Placeholder 4">
            <a:extLst>
              <a:ext uri="{FF2B5EF4-FFF2-40B4-BE49-F238E27FC236}">
                <a16:creationId xmlns:a16="http://schemas.microsoft.com/office/drawing/2014/main" id="{ECAD8D3A-F03B-83E4-2E07-B48B7592E7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5F18C8-16D5-4E01-88D2-5AEDD4878BA5}"/>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3334129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1BA21C-8EF3-ADB2-1704-96F0B9EA8E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B0D814-000C-6969-89A2-DF430F3312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730930-6BFF-27D9-6E26-F25442BB764F}"/>
              </a:ext>
            </a:extLst>
          </p:cNvPr>
          <p:cNvSpPr>
            <a:spLocks noGrp="1"/>
          </p:cNvSpPr>
          <p:nvPr>
            <p:ph type="dt" sz="half" idx="10"/>
          </p:nvPr>
        </p:nvSpPr>
        <p:spPr/>
        <p:txBody>
          <a:bodyPr/>
          <a:lstStyle/>
          <a:p>
            <a:fld id="{42A3CB95-7500-48B7-B471-2D35515B2782}" type="datetimeFigureOut">
              <a:rPr lang="en-IN" smtClean="0"/>
              <a:t>20-08-2026</a:t>
            </a:fld>
            <a:endParaRPr lang="en-IN"/>
          </a:p>
        </p:txBody>
      </p:sp>
      <p:sp>
        <p:nvSpPr>
          <p:cNvPr id="5" name="Footer Placeholder 4">
            <a:extLst>
              <a:ext uri="{FF2B5EF4-FFF2-40B4-BE49-F238E27FC236}">
                <a16:creationId xmlns:a16="http://schemas.microsoft.com/office/drawing/2014/main" id="{60C6B4CF-75D3-3E10-EA01-7B8D76A0C2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30A554-14C9-C42D-48F0-9861B0AF02D9}"/>
              </a:ext>
            </a:extLst>
          </p:cNvPr>
          <p:cNvSpPr>
            <a:spLocks noGrp="1"/>
          </p:cNvSpPr>
          <p:nvPr>
            <p:ph type="sldNum" sz="quarter" idx="12"/>
          </p:nvPr>
        </p:nvSpPr>
        <p:spPr/>
        <p:txBody>
          <a:bodyPr/>
          <a:lstStyle/>
          <a:p>
            <a:fld id="{A7F9B7E9-B043-4ACB-B393-50C9FDFB08CF}" type="slidenum">
              <a:rPr lang="en-IN" smtClean="0"/>
              <a:t>‹#›</a:t>
            </a:fld>
            <a:endParaRPr lang="en-IN"/>
          </a:p>
        </p:txBody>
      </p:sp>
    </p:spTree>
    <p:extLst>
      <p:ext uri="{BB962C8B-B14F-4D97-AF65-F5344CB8AC3E}">
        <p14:creationId xmlns:p14="http://schemas.microsoft.com/office/powerpoint/2010/main" val="2894270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3A6825-4066-9E76-0F75-828F5F60C7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577E54-421C-7C55-0E47-62ACA4D416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48802A-29B3-9264-DFA3-14EC3846E2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A3CB95-7500-48B7-B471-2D35515B2782}" type="datetimeFigureOut">
              <a:rPr lang="en-IN" smtClean="0"/>
              <a:t>20-08-2026</a:t>
            </a:fld>
            <a:endParaRPr lang="en-IN"/>
          </a:p>
        </p:txBody>
      </p:sp>
      <p:sp>
        <p:nvSpPr>
          <p:cNvPr id="5" name="Footer Placeholder 4">
            <a:extLst>
              <a:ext uri="{FF2B5EF4-FFF2-40B4-BE49-F238E27FC236}">
                <a16:creationId xmlns:a16="http://schemas.microsoft.com/office/drawing/2014/main" id="{2BE9B1D5-8940-91D0-E74A-C1C016D98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576887D-2EEA-A161-FC31-3844B654D6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F9B7E9-B043-4ACB-B393-50C9FDFB08CF}" type="slidenum">
              <a:rPr lang="en-IN" smtClean="0"/>
              <a:t>‹#›</a:t>
            </a:fld>
            <a:endParaRPr lang="en-IN"/>
          </a:p>
        </p:txBody>
      </p:sp>
    </p:spTree>
    <p:extLst>
      <p:ext uri="{BB962C8B-B14F-4D97-AF65-F5344CB8AC3E}">
        <p14:creationId xmlns:p14="http://schemas.microsoft.com/office/powerpoint/2010/main" val="59307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C57A8-AEE6-1FD6-0F92-35EE0A88CAD5}"/>
              </a:ext>
            </a:extLst>
          </p:cNvPr>
          <p:cNvSpPr>
            <a:spLocks noGrp="1"/>
          </p:cNvSpPr>
          <p:nvPr>
            <p:ph type="ctrTitle"/>
          </p:nvPr>
        </p:nvSpPr>
        <p:spPr>
          <a:xfrm>
            <a:off x="1435510" y="1613976"/>
            <a:ext cx="9144000" cy="2387600"/>
          </a:xfrm>
        </p:spPr>
        <p:txBody>
          <a:bodyPr>
            <a:normAutofit/>
          </a:bodyPr>
          <a:lstStyle/>
          <a:p>
            <a:r>
              <a:rPr lang="en-US" sz="4800" b="1" spc="51" dirty="0">
                <a:latin typeface="Cambria"/>
                <a:ea typeface="Cambria"/>
              </a:rPr>
              <a:t>NETWORK FLOW OPTIMIZATION SYSTEM</a:t>
            </a:r>
            <a:br>
              <a:rPr lang="en-US" sz="4800" dirty="0">
                <a:latin typeface="Arial"/>
              </a:rPr>
            </a:br>
            <a:endParaRPr lang="en-IN" sz="4800" dirty="0"/>
          </a:p>
        </p:txBody>
      </p:sp>
      <p:sp>
        <p:nvSpPr>
          <p:cNvPr id="6" name="TextBox 5">
            <a:extLst>
              <a:ext uri="{FF2B5EF4-FFF2-40B4-BE49-F238E27FC236}">
                <a16:creationId xmlns:a16="http://schemas.microsoft.com/office/drawing/2014/main" id="{7562BBB3-F23A-54E8-8A8A-903C08EEE24F}"/>
              </a:ext>
            </a:extLst>
          </p:cNvPr>
          <p:cNvSpPr txBox="1"/>
          <p:nvPr/>
        </p:nvSpPr>
        <p:spPr>
          <a:xfrm>
            <a:off x="8327922" y="5043948"/>
            <a:ext cx="3696929" cy="1200329"/>
          </a:xfrm>
          <a:prstGeom prst="rect">
            <a:avLst/>
          </a:prstGeom>
          <a:noFill/>
        </p:spPr>
        <p:txBody>
          <a:bodyPr wrap="square" rtlCol="0">
            <a:spAutoFit/>
          </a:bodyPr>
          <a:lstStyle/>
          <a:p>
            <a:r>
              <a:rPr lang="en-IN" dirty="0"/>
              <a:t>2520030142-Siri Chandana</a:t>
            </a:r>
            <a:br>
              <a:rPr lang="en-IN" dirty="0"/>
            </a:br>
            <a:r>
              <a:rPr lang="en-IN" dirty="0"/>
              <a:t>2520030147-Hemalatha</a:t>
            </a:r>
            <a:br>
              <a:rPr lang="en-IN" dirty="0"/>
            </a:br>
            <a:r>
              <a:rPr lang="en-IN" dirty="0"/>
              <a:t>2520030442-Sai Pranathi</a:t>
            </a:r>
            <a:br>
              <a:rPr lang="en-IN" dirty="0"/>
            </a:br>
            <a:endParaRPr lang="en-IN" dirty="0"/>
          </a:p>
        </p:txBody>
      </p:sp>
    </p:spTree>
    <p:extLst>
      <p:ext uri="{BB962C8B-B14F-4D97-AF65-F5344CB8AC3E}">
        <p14:creationId xmlns:p14="http://schemas.microsoft.com/office/powerpoint/2010/main" val="3678619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0789B-8CFF-03BC-C394-356D39ED5DD3}"/>
              </a:ext>
            </a:extLst>
          </p:cNvPr>
          <p:cNvSpPr>
            <a:spLocks noGrp="1"/>
          </p:cNvSpPr>
          <p:nvPr>
            <p:ph type="title"/>
          </p:nvPr>
        </p:nvSpPr>
        <p:spPr/>
        <p:txBody>
          <a:bodyPr/>
          <a:lstStyle/>
          <a:p>
            <a:r>
              <a:rPr lang="en-US" b="1" dirty="0">
                <a:solidFill>
                  <a:srgbClr val="1B1F2A"/>
                </a:solidFill>
                <a:latin typeface="Times New Roman" panose="02020603050405020304" pitchFamily="18" charset="0"/>
                <a:ea typeface="Cambria"/>
                <a:cs typeface="Times New Roman" panose="02020603050405020304" pitchFamily="18" charset="0"/>
              </a:rPr>
              <a:t>Abstract:</a:t>
            </a:r>
            <a:br>
              <a:rPr lang="en-US" dirty="0">
                <a:solidFill>
                  <a:srgbClr val="000000"/>
                </a:solidFill>
                <a:latin typeface="Arial"/>
              </a:rPr>
            </a:br>
            <a:endParaRPr lang="en-IN" dirty="0"/>
          </a:p>
        </p:txBody>
      </p:sp>
      <p:sp>
        <p:nvSpPr>
          <p:cNvPr id="3" name="Content Placeholder 2">
            <a:extLst>
              <a:ext uri="{FF2B5EF4-FFF2-40B4-BE49-F238E27FC236}">
                <a16:creationId xmlns:a16="http://schemas.microsoft.com/office/drawing/2014/main" id="{EC4E9F82-7F57-8224-352D-F1A047DF60F4}"/>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The Network Flow Optimization System is a project that focuses on improving how resources move through a network. By treating the network as a set of points (nodes) connected by paths (edges), the system uses simple flow algorithms to make sure that data or goods travel in the most efficient way. This helps reduce congestion, save costs, and ensure smooth distribution across the network.</a:t>
            </a:r>
          </a:p>
          <a:p>
            <a:r>
              <a:rPr lang="en-IN" sz="2400" dirty="0">
                <a:latin typeface="Times New Roman" panose="02020603050405020304" pitchFamily="18" charset="0"/>
                <a:cs typeface="Times New Roman" panose="02020603050405020304" pitchFamily="18" charset="0"/>
              </a:rPr>
              <a:t>With clear visualization and easy simulation, the project shows how bottlenecks can be avoided and resources can be managed effectively, making the network faster and more reliable.</a:t>
            </a:r>
          </a:p>
        </p:txBody>
      </p:sp>
    </p:spTree>
    <p:extLst>
      <p:ext uri="{BB962C8B-B14F-4D97-AF65-F5344CB8AC3E}">
        <p14:creationId xmlns:p14="http://schemas.microsoft.com/office/powerpoint/2010/main" val="1023840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D21CB-CED2-2EED-A0E2-6E9FB39B2FB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242E973E-BDDB-AB50-E691-2041E44EE5A6}"/>
              </a:ext>
            </a:extLst>
          </p:cNvPr>
          <p:cNvSpPr>
            <a:spLocks noGrp="1"/>
          </p:cNvSpPr>
          <p:nvPr>
            <p:ph idx="1"/>
          </p:nvPr>
        </p:nvSpPr>
        <p:spPr/>
        <p:txBody>
          <a:bodyPr/>
          <a:lstStyle/>
          <a:p>
            <a:r>
              <a:rPr lang="en-IN" dirty="0">
                <a:effectLst/>
                <a:latin typeface="Times New Roman" panose="02020603050405020304" pitchFamily="18" charset="0"/>
                <a:cs typeface="Times New Roman" panose="02020603050405020304" pitchFamily="18" charset="0"/>
              </a:rPr>
              <a:t>Networks often suffer from inefficient resource flow.</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Certain paths get overloaded, causing bottlenecks.</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This leads to delays, higher costs, and poor reliability.</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Existing systems lack dynamic optimization to adapt to changing demands.</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Networks struggle to balance loads and maintain smooth operations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6636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2669F-BE27-1ED4-610E-D0F6E6DA2C6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SOLUTIONS:</a:t>
            </a:r>
          </a:p>
        </p:txBody>
      </p:sp>
      <p:sp>
        <p:nvSpPr>
          <p:cNvPr id="3" name="Content Placeholder 2">
            <a:extLst>
              <a:ext uri="{FF2B5EF4-FFF2-40B4-BE49-F238E27FC236}">
                <a16:creationId xmlns:a16="http://schemas.microsoft.com/office/drawing/2014/main" id="{F9E3E684-806E-350B-66BF-4BDE74AC16E0}"/>
              </a:ext>
            </a:extLst>
          </p:cNvPr>
          <p:cNvSpPr>
            <a:spLocks noGrp="1"/>
          </p:cNvSpPr>
          <p:nvPr>
            <p:ph idx="1"/>
          </p:nvPr>
        </p:nvSpPr>
        <p:spPr/>
        <p:txBody>
          <a:bodyPr>
            <a:normAutofit/>
          </a:bodyPr>
          <a:lstStyle/>
          <a:p>
            <a:r>
              <a:rPr lang="en-IN" sz="2400" dirty="0">
                <a:effectLst/>
                <a:latin typeface="Times New Roman" panose="02020603050405020304" pitchFamily="18" charset="0"/>
                <a:cs typeface="Times New Roman" panose="02020603050405020304" pitchFamily="18" charset="0"/>
              </a:rPr>
              <a:t>Use graph-based </a:t>
            </a:r>
            <a:r>
              <a:rPr lang="en-IN" sz="2400" dirty="0" err="1">
                <a:effectLst/>
                <a:latin typeface="Times New Roman" panose="02020603050405020304" pitchFamily="18" charset="0"/>
                <a:cs typeface="Times New Roman" panose="02020603050405020304" pitchFamily="18" charset="0"/>
              </a:rPr>
              <a:t>modeling</a:t>
            </a:r>
            <a:r>
              <a:rPr lang="en-IN" sz="2400" dirty="0">
                <a:effectLst/>
                <a:latin typeface="Times New Roman" panose="02020603050405020304" pitchFamily="18" charset="0"/>
                <a:cs typeface="Times New Roman" panose="02020603050405020304" pitchFamily="18" charset="0"/>
              </a:rPr>
              <a:t> to represent nodes and paths with capacities and costs.</a:t>
            </a:r>
            <a:endParaRPr lang="en-IN" sz="2400" dirty="0">
              <a:latin typeface="Times New Roman" panose="02020603050405020304" pitchFamily="18" charset="0"/>
              <a:cs typeface="Times New Roman" panose="02020603050405020304" pitchFamily="18" charset="0"/>
            </a:endParaRPr>
          </a:p>
          <a:p>
            <a:r>
              <a:rPr lang="en-IN" sz="2400" dirty="0">
                <a:effectLst/>
                <a:latin typeface="Times New Roman" panose="02020603050405020304" pitchFamily="18" charset="0"/>
                <a:cs typeface="Times New Roman" panose="02020603050405020304" pitchFamily="18" charset="0"/>
              </a:rPr>
              <a:t>Apply Max-Flow and Min-Cost Flow algorithms to optimize resource movement.</a:t>
            </a:r>
            <a:endParaRPr lang="en-IN" sz="2400" dirty="0">
              <a:latin typeface="Times New Roman" panose="02020603050405020304" pitchFamily="18" charset="0"/>
              <a:cs typeface="Times New Roman" panose="02020603050405020304" pitchFamily="18" charset="0"/>
            </a:endParaRPr>
          </a:p>
          <a:p>
            <a:r>
              <a:rPr lang="en-IN" sz="2400" dirty="0">
                <a:effectLst/>
                <a:latin typeface="Times New Roman" panose="02020603050405020304" pitchFamily="18" charset="0"/>
                <a:cs typeface="Times New Roman" panose="02020603050405020304" pitchFamily="18" charset="0"/>
              </a:rPr>
              <a:t>Implement dynamic rerouting to handle overloaded paths and avoid congestion.</a:t>
            </a:r>
            <a:endParaRPr lang="en-IN" sz="2400" dirty="0">
              <a:latin typeface="Times New Roman" panose="02020603050405020304" pitchFamily="18" charset="0"/>
              <a:cs typeface="Times New Roman" panose="02020603050405020304" pitchFamily="18" charset="0"/>
            </a:endParaRPr>
          </a:p>
          <a:p>
            <a:r>
              <a:rPr lang="en-IN" sz="2400" dirty="0">
                <a:effectLst/>
                <a:latin typeface="Times New Roman" panose="02020603050405020304" pitchFamily="18" charset="0"/>
                <a:cs typeface="Times New Roman" panose="02020603050405020304" pitchFamily="18" charset="0"/>
              </a:rPr>
              <a:t>Introduce load balancing to distribute flow evenly across the network.</a:t>
            </a:r>
            <a:endParaRPr lang="en-IN" sz="2400" dirty="0">
              <a:latin typeface="Times New Roman" panose="02020603050405020304" pitchFamily="18" charset="0"/>
              <a:cs typeface="Times New Roman" panose="02020603050405020304" pitchFamily="18" charset="0"/>
            </a:endParaRPr>
          </a:p>
          <a:p>
            <a:r>
              <a:rPr lang="en-IN" sz="2400" dirty="0">
                <a:effectLst/>
                <a:latin typeface="Times New Roman" panose="02020603050405020304" pitchFamily="18" charset="0"/>
                <a:cs typeface="Times New Roman" panose="02020603050405020304" pitchFamily="18" charset="0"/>
              </a:rPr>
              <a:t>Add visualization tools to show flow distribution and highlight bottlenecks.</a:t>
            </a:r>
            <a:endParaRPr lang="en-IN" sz="2400" dirty="0">
              <a:latin typeface="Times New Roman" panose="02020603050405020304" pitchFamily="18" charset="0"/>
              <a:cs typeface="Times New Roman" panose="02020603050405020304" pitchFamily="18" charset="0"/>
            </a:endParaRPr>
          </a:p>
          <a:p>
            <a:r>
              <a:rPr lang="en-IN" sz="2400" dirty="0">
                <a:effectLst/>
                <a:latin typeface="Times New Roman" panose="02020603050405020304" pitchFamily="18" charset="0"/>
                <a:cs typeface="Times New Roman" panose="02020603050405020304" pitchFamily="18" charset="0"/>
              </a:rPr>
              <a:t>Run simulation tests to validate efficiency under different network conditions.</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8172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2B6C7-723B-96ED-A41D-736C3C59C519}"/>
              </a:ext>
            </a:extLst>
          </p:cNvPr>
          <p:cNvSpPr>
            <a:spLocks noGrp="1"/>
          </p:cNvSpPr>
          <p:nvPr>
            <p:ph type="title"/>
          </p:nvPr>
        </p:nvSpPr>
        <p:spPr>
          <a:xfrm>
            <a:off x="747252" y="365125"/>
            <a:ext cx="10606548" cy="1325563"/>
          </a:xfrm>
        </p:spPr>
        <p:txBody>
          <a:bodyPr/>
          <a:lstStyle/>
          <a:p>
            <a:r>
              <a:rPr lang="en-IN" dirty="0">
                <a:latin typeface="Times New Roman" panose="02020603050405020304" pitchFamily="18" charset="0"/>
                <a:cs typeface="Times New Roman" panose="02020603050405020304" pitchFamily="18" charset="0"/>
              </a:rPr>
              <a:t>TOOLS AND TECHNOLOGIES:</a:t>
            </a:r>
          </a:p>
        </p:txBody>
      </p:sp>
      <p:sp>
        <p:nvSpPr>
          <p:cNvPr id="3" name="Content Placeholder 2">
            <a:extLst>
              <a:ext uri="{FF2B5EF4-FFF2-40B4-BE49-F238E27FC236}">
                <a16:creationId xmlns:a16="http://schemas.microsoft.com/office/drawing/2014/main" id="{2017534E-51DA-B759-9BB3-565909994F4F}"/>
              </a:ext>
            </a:extLst>
          </p:cNvPr>
          <p:cNvSpPr>
            <a:spLocks noGrp="1"/>
          </p:cNvSpPr>
          <p:nvPr>
            <p:ph idx="1"/>
          </p:nvPr>
        </p:nvSpPr>
        <p:spPr>
          <a:xfrm>
            <a:off x="838200" y="1825625"/>
            <a:ext cx="10301748" cy="2893859"/>
          </a:xfrm>
        </p:spPr>
        <p:txBody>
          <a:bodyPr>
            <a:normAutofit/>
          </a:bodyPr>
          <a:lstStyle/>
          <a:p>
            <a:r>
              <a:rPr lang="en-IN" sz="2600" b="1" dirty="0">
                <a:effectLst/>
                <a:latin typeface="Times New Roman" panose="02020603050405020304" pitchFamily="18" charset="0"/>
                <a:cs typeface="Times New Roman" panose="02020603050405020304" pitchFamily="18" charset="0"/>
              </a:rPr>
              <a:t>Programming Languages: </a:t>
            </a:r>
            <a:r>
              <a:rPr lang="en-IN" sz="2600" dirty="0">
                <a:effectLst/>
                <a:latin typeface="Times New Roman" panose="02020603050405020304" pitchFamily="18" charset="0"/>
                <a:cs typeface="Times New Roman" panose="02020603050405020304" pitchFamily="18" charset="0"/>
              </a:rPr>
              <a:t> Java (for implementing flow algorithms).</a:t>
            </a:r>
            <a:endParaRPr lang="en-IN" sz="2600" dirty="0">
              <a:latin typeface="Times New Roman" panose="02020603050405020304" pitchFamily="18" charset="0"/>
              <a:cs typeface="Times New Roman" panose="02020603050405020304" pitchFamily="18" charset="0"/>
            </a:endParaRPr>
          </a:p>
          <a:p>
            <a:r>
              <a:rPr lang="en-IN" sz="2600" b="1" dirty="0">
                <a:effectLst/>
                <a:latin typeface="Times New Roman" panose="02020603050405020304" pitchFamily="18" charset="0"/>
                <a:cs typeface="Times New Roman" panose="02020603050405020304" pitchFamily="18" charset="0"/>
              </a:rPr>
              <a:t>Data Structures: </a:t>
            </a:r>
            <a:r>
              <a:rPr lang="en-IN" sz="2600" dirty="0">
                <a:effectLst/>
                <a:latin typeface="Times New Roman" panose="02020603050405020304" pitchFamily="18" charset="0"/>
                <a:cs typeface="Times New Roman" panose="02020603050405020304" pitchFamily="18" charset="0"/>
              </a:rPr>
              <a:t>Graphs, adjacency lists, adjacency matrices.</a:t>
            </a:r>
            <a:endParaRPr lang="en-IN" sz="2600" dirty="0">
              <a:latin typeface="Times New Roman" panose="02020603050405020304" pitchFamily="18" charset="0"/>
              <a:cs typeface="Times New Roman" panose="02020603050405020304" pitchFamily="18" charset="0"/>
            </a:endParaRPr>
          </a:p>
          <a:p>
            <a:r>
              <a:rPr lang="en-IN" sz="2600" b="1" dirty="0">
                <a:effectLst/>
                <a:latin typeface="Times New Roman" panose="02020603050405020304" pitchFamily="18" charset="0"/>
                <a:cs typeface="Times New Roman" panose="02020603050405020304" pitchFamily="18" charset="0"/>
              </a:rPr>
              <a:t>Algorithms: </a:t>
            </a:r>
            <a:r>
              <a:rPr lang="en-IN" sz="2600" dirty="0">
                <a:effectLst/>
                <a:latin typeface="Times New Roman" panose="02020603050405020304" pitchFamily="18" charset="0"/>
                <a:cs typeface="Times New Roman" panose="02020603050405020304" pitchFamily="18" charset="0"/>
              </a:rPr>
              <a:t>Max-Flow , Min-Cost Flow, Shortest Path.</a:t>
            </a:r>
            <a:endParaRPr lang="en-IN" sz="2600" dirty="0">
              <a:latin typeface="Times New Roman" panose="02020603050405020304" pitchFamily="18" charset="0"/>
              <a:cs typeface="Times New Roman" panose="02020603050405020304" pitchFamily="18" charset="0"/>
            </a:endParaRPr>
          </a:p>
          <a:p>
            <a:r>
              <a:rPr lang="en-IN" sz="2600" b="1" dirty="0">
                <a:effectLst/>
                <a:latin typeface="Times New Roman" panose="02020603050405020304" pitchFamily="18" charset="0"/>
                <a:cs typeface="Times New Roman" panose="02020603050405020304" pitchFamily="18" charset="0"/>
              </a:rPr>
              <a:t>Simulation Environment: </a:t>
            </a:r>
            <a:r>
              <a:rPr lang="en-IN" sz="2600" dirty="0">
                <a:effectLst/>
                <a:latin typeface="Times New Roman" panose="02020603050405020304" pitchFamily="18" charset="0"/>
                <a:cs typeface="Times New Roman" panose="02020603050405020304" pitchFamily="18" charset="0"/>
              </a:rPr>
              <a:t>Linux (for testing and running programs).</a:t>
            </a:r>
            <a:endParaRPr lang="en-IN" sz="2600" dirty="0">
              <a:latin typeface="Times New Roman" panose="02020603050405020304" pitchFamily="18" charset="0"/>
              <a:cs typeface="Times New Roman" panose="02020603050405020304" pitchFamily="18" charset="0"/>
            </a:endParaRPr>
          </a:p>
          <a:p>
            <a:r>
              <a:rPr lang="en-IN" sz="2600" b="1" dirty="0">
                <a:effectLst/>
                <a:latin typeface="Times New Roman" panose="02020603050405020304" pitchFamily="18" charset="0"/>
                <a:cs typeface="Times New Roman" panose="02020603050405020304" pitchFamily="18" charset="0"/>
              </a:rPr>
              <a:t>Development Tools: </a:t>
            </a:r>
            <a:r>
              <a:rPr lang="en-IN" sz="2600" dirty="0">
                <a:effectLst/>
                <a:latin typeface="Times New Roman" panose="02020603050405020304" pitchFamily="18" charset="0"/>
                <a:cs typeface="Times New Roman" panose="02020603050405020304" pitchFamily="18" charset="0"/>
              </a:rPr>
              <a:t>IDEs like VS Code.</a:t>
            </a:r>
            <a:endParaRPr lang="en-IN" sz="2600" dirty="0">
              <a:latin typeface="Times New Roman" panose="02020603050405020304" pitchFamily="18" charset="0"/>
              <a:cs typeface="Times New Roman" panose="02020603050405020304" pitchFamily="18" charset="0"/>
            </a:endParaRPr>
          </a:p>
          <a:p>
            <a:r>
              <a:rPr lang="en-IN" sz="2600" b="1" dirty="0">
                <a:effectLst/>
                <a:latin typeface="Times New Roman" panose="02020603050405020304" pitchFamily="18" charset="0"/>
                <a:cs typeface="Times New Roman" panose="02020603050405020304" pitchFamily="18" charset="0"/>
              </a:rPr>
              <a:t>Version Control: </a:t>
            </a:r>
            <a:r>
              <a:rPr lang="en-IN" sz="2600" dirty="0">
                <a:effectLst/>
                <a:latin typeface="Times New Roman" panose="02020603050405020304" pitchFamily="18" charset="0"/>
                <a:cs typeface="Times New Roman" panose="02020603050405020304" pitchFamily="18" charset="0"/>
              </a:rPr>
              <a:t>GitHub for managing project code</a:t>
            </a:r>
            <a:r>
              <a:rPr lang="en-IN" sz="2600" dirty="0">
                <a:effectLst/>
              </a:rPr>
              <a:t>.</a:t>
            </a:r>
            <a:endParaRPr lang="en-IN" sz="2600" dirty="0"/>
          </a:p>
          <a:p>
            <a:pPr marL="0" indent="0">
              <a:buNone/>
            </a:pPr>
            <a:endParaRPr lang="en-IN" dirty="0"/>
          </a:p>
        </p:txBody>
      </p:sp>
    </p:spTree>
    <p:extLst>
      <p:ext uri="{BB962C8B-B14F-4D97-AF65-F5344CB8AC3E}">
        <p14:creationId xmlns:p14="http://schemas.microsoft.com/office/powerpoint/2010/main" val="1123928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71F4-49CC-4A3E-DC80-78B1E5729BD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EXPECTED OUTCOME:</a:t>
            </a:r>
          </a:p>
        </p:txBody>
      </p:sp>
      <p:sp>
        <p:nvSpPr>
          <p:cNvPr id="3" name="Content Placeholder 2">
            <a:extLst>
              <a:ext uri="{FF2B5EF4-FFF2-40B4-BE49-F238E27FC236}">
                <a16:creationId xmlns:a16="http://schemas.microsoft.com/office/drawing/2014/main" id="{F17DE4D8-5497-AFD1-C200-F40ED73B7F41}"/>
              </a:ext>
            </a:extLst>
          </p:cNvPr>
          <p:cNvSpPr>
            <a:spLocks noGrp="1"/>
          </p:cNvSpPr>
          <p:nvPr>
            <p:ph idx="1"/>
          </p:nvPr>
        </p:nvSpPr>
        <p:spPr/>
        <p:txBody>
          <a:bodyPr/>
          <a:lstStyle/>
          <a:p>
            <a:r>
              <a:rPr lang="en-IN" dirty="0">
                <a:effectLst/>
                <a:latin typeface="Times New Roman" panose="02020603050405020304" pitchFamily="18" charset="0"/>
                <a:cs typeface="Times New Roman" panose="02020603050405020304" pitchFamily="18" charset="0"/>
              </a:rPr>
              <a:t>Smooth flow of resources in the network.</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Less congestion and fewer bottlenecks.</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Balanced use of all available paths.</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Lower cost and faster performance.</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Ability to adapt when demand changes.</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Simple visuals to show flow clearly.</a:t>
            </a:r>
            <a:endParaRPr lang="en-IN" dirty="0">
              <a:latin typeface="Times New Roman" panose="02020603050405020304" pitchFamily="18" charset="0"/>
              <a:cs typeface="Times New Roman" panose="02020603050405020304" pitchFamily="18" charset="0"/>
            </a:endParaRPr>
          </a:p>
          <a:p>
            <a:r>
              <a:rPr lang="en-IN" dirty="0">
                <a:effectLst/>
                <a:latin typeface="Times New Roman" panose="02020603050405020304" pitchFamily="18" charset="0"/>
                <a:cs typeface="Times New Roman" panose="02020603050405020304" pitchFamily="18" charset="0"/>
              </a:rPr>
              <a:t>A system that works for different areas like computer networks</a:t>
            </a:r>
            <a:r>
              <a:rPr lang="en-IN">
                <a:effectLst/>
                <a:latin typeface="Times New Roman" panose="02020603050405020304" pitchFamily="18" charset="0"/>
                <a:cs typeface="Times New Roman" panose="02020603050405020304" pitchFamily="18" charset="0"/>
              </a:rPr>
              <a:t>, transport.</a:t>
            </a:r>
            <a:endParaRPr lang="en-IN" dirty="0"/>
          </a:p>
        </p:txBody>
      </p:sp>
    </p:spTree>
    <p:extLst>
      <p:ext uri="{BB962C8B-B14F-4D97-AF65-F5344CB8AC3E}">
        <p14:creationId xmlns:p14="http://schemas.microsoft.com/office/powerpoint/2010/main" val="4094366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361</Words>
  <Application>Microsoft Office PowerPoint</Application>
  <PresentationFormat>Widescreen</PresentationFormat>
  <Paragraphs>33</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Cambria</vt:lpstr>
      <vt:lpstr>Times New Roman</vt:lpstr>
      <vt:lpstr>Office Theme</vt:lpstr>
      <vt:lpstr>NETWORK FLOW OPTIMIZATION SYSTEM </vt:lpstr>
      <vt:lpstr>Abstract: </vt:lpstr>
      <vt:lpstr>PROBLEM STATEMENT:</vt:lpstr>
      <vt:lpstr>PROPOSED SOLUTIONS:</vt:lpstr>
      <vt:lpstr>TOOLS AND TECHNOLOGIES:</vt:lpstr>
      <vt:lpstr>EXPECTED OUTCOME: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Kovuri Hemalatha</dc:creator>
  <cp:lastModifiedBy>Sai Pranathi</cp:lastModifiedBy>
  <cp:revision>5</cp:revision>
  <dcterms:created xsi:type="dcterms:W3CDTF">2026-08-20T05:34:17Z</dcterms:created>
  <dcterms:modified xsi:type="dcterms:W3CDTF">2026-08-20T05:49:16Z</dcterms:modified>
</cp:coreProperties>
</file>